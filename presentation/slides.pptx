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474720"/>
            <a:ext cx="201168" cy="3383280"/>
          </a:xfrm>
          <a:prstGeom prst="rect">
            <a:avLst/>
          </a:prstGeom>
          <a:solidFill>
            <a:srgbClr val="0C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3474720"/>
            <a:ext cx="201168" cy="3383280"/>
          </a:xfrm>
          <a:prstGeom prst="rect">
            <a:avLst/>
          </a:prstGeom>
          <a:solidFill>
            <a:srgbClr val="0C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3474720"/>
            <a:ext cx="201168" cy="3383280"/>
          </a:xfrm>
          <a:prstGeom prst="rect">
            <a:avLst/>
          </a:prstGeom>
          <a:solidFill>
            <a:srgbClr val="0C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3759" y="3474720"/>
            <a:ext cx="201168" cy="3383280"/>
          </a:xfrm>
          <a:prstGeom prst="rect">
            <a:avLst/>
          </a:prstGeom>
          <a:solidFill>
            <a:srgbClr val="0C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3474720"/>
            <a:ext cx="201168" cy="3383280"/>
          </a:xfrm>
          <a:prstGeom prst="rect">
            <a:avLst/>
          </a:prstGeom>
          <a:solidFill>
            <a:srgbClr val="0C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112745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PortPulse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B4D8"/>
                </a:solidFill>
              </a:rPr>
              <a:t>Container Congestion &amp; Port Operations Optimiser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423160"/>
            <a:ext cx="5788152" cy="36576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2633472"/>
            <a:ext cx="2496312" cy="420624"/>
          </a:xfrm>
          <a:prstGeom prst="rect">
            <a:avLst/>
          </a:prstGeom>
          <a:solidFill>
            <a:srgbClr val="0052C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633472"/>
            <a:ext cx="2496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AI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2ECFF"/>
                </a:solidFill>
              </a:rPr>
              <a:t>IBM BoB AI Innovation Hackathon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931920"/>
            <a:ext cx="5029200" cy="233172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416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Team Portvector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544568"/>
            <a:ext cx="4297680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64515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2ECFF"/>
                </a:solidFill>
              </a:rPr>
              <a:t>Mit Mahant  ·  Brijraj Solanki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06577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2ECFF"/>
                </a:solidFill>
              </a:rPr>
              <a:t>Pival Patel  ·  Arpan Ghaskata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59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IT — DEPSTAR, Charusat University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Port Congestion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Why container terminals need better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120640" cy="658368"/>
          </a:xfrm>
          <a:prstGeom prst="rect">
            <a:avLst/>
          </a:prstGeom>
          <a:solidFill>
            <a:srgbClr val="0C22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920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Vessel Arrivals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26464"/>
            <a:ext cx="2834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</a:rPr>
              <a:t>Multiple ships arrive within narrow time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2039111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A9B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31136"/>
            <a:ext cx="5120640" cy="658368"/>
          </a:xfrm>
          <a:prstGeom prst="rect">
            <a:avLst/>
          </a:prstGeom>
          <a:solidFill>
            <a:srgbClr val="0C22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67712"/>
            <a:ext cx="1920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Limited Berth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86000"/>
            <a:ext cx="2834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</a:rPr>
              <a:t>Fixed berths cannot absorb simultaneous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898648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A9B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0672"/>
            <a:ext cx="5120640" cy="658368"/>
          </a:xfrm>
          <a:prstGeom prst="rect">
            <a:avLst/>
          </a:prstGeom>
          <a:solidFill>
            <a:srgbClr val="0C22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27248"/>
            <a:ext cx="1920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Queue Build-up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145536"/>
            <a:ext cx="2834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</a:rPr>
              <a:t>Vessels anchor and wait — generating demurrage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3758183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A9B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50208"/>
            <a:ext cx="5120640" cy="658368"/>
          </a:xfrm>
          <a:prstGeom prst="rect">
            <a:avLst/>
          </a:prstGeom>
          <a:solidFill>
            <a:srgbClr val="0C22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4"/>
            <a:ext cx="1920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Berth Bottlenecks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05072"/>
            <a:ext cx="2834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</a:rPr>
              <a:t>One overloaded berth stalls the entire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461772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A9B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9744"/>
            <a:ext cx="5120640" cy="658368"/>
          </a:xfrm>
          <a:prstGeom prst="rect">
            <a:avLst/>
          </a:prstGeom>
          <a:solidFill>
            <a:srgbClr val="300808"/>
          </a:solidFill>
          <a:ln w="15240">
            <a:solidFill>
              <a:srgbClr val="D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46320"/>
            <a:ext cx="1920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Rising Operational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864607"/>
            <a:ext cx="28346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CFF"/>
                </a:solidFill>
              </a:rPr>
              <a:t>Demurrage + berth cost escalates with every hour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5605272" cy="507492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8132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The Challenge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993392"/>
            <a:ext cx="5120640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084831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●  Identify bottlenecks before they cascade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●  Model interventions before committing resources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●  Generate grounded, explainable recommendations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●  Visualise the full operational picture at a glance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L1 Challenge (IBM BoB Hackathon):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Container Congestion Predictor &amp;</a:t>
            </a:r>
          </a:p>
          <a:p>
            <a:pPr algn="l">
              <a:spcBef>
                <a:spcPts val="500"/>
              </a:spcBef>
            </a:pPr>
            <a:r>
              <a:rPr sz="1500" b="0">
                <a:solidFill>
                  <a:srgbClr val="E2ECFF"/>
                </a:solidFill>
              </a:rPr>
              <a:t>Port Operations Optimiser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From Port Data to Operational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End-to-end pipeline: data → optimisation → decision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7180" y="1508760"/>
            <a:ext cx="1719072" cy="1115568"/>
          </a:xfrm>
          <a:prstGeom prst="rect">
            <a:avLst/>
          </a:prstGeom>
          <a:solidFill>
            <a:srgbClr val="0C22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Vessel / Berth
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vessels.csv
berths.csv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2828" y="190195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2284" y="1508760"/>
            <a:ext cx="1719072" cy="1115568"/>
          </a:xfrm>
          <a:prstGeom prst="rect">
            <a:avLst/>
          </a:prstGeom>
          <a:solidFill>
            <a:srgbClr val="0A356E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8004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Congestion
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8004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congestion.py
Analytical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7932" y="190195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7388" y="1508760"/>
            <a:ext cx="1719072" cy="1115568"/>
          </a:xfrm>
          <a:prstGeom prst="rect">
            <a:avLst/>
          </a:prstGeom>
          <a:solidFill>
            <a:srgbClr val="003A8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3108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OR-Tools
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3108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optimizer.py
MIP 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3036" y="190195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2" y="1508760"/>
            <a:ext cx="1719072" cy="1115568"/>
          </a:xfrm>
          <a:prstGeom prst="rect">
            <a:avLst/>
          </a:prstGeom>
          <a:solidFill>
            <a:srgbClr val="0A403A"/>
          </a:solidFill>
          <a:ln w="25400">
            <a:solidFill>
              <a:srgbClr val="0B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8212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Scenario
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8212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scenario_engine.py
What-if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8140" y="190195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7596" y="1508760"/>
            <a:ext cx="1719072" cy="1115568"/>
          </a:xfrm>
          <a:prstGeom prst="rect">
            <a:avLst/>
          </a:prstGeom>
          <a:solidFill>
            <a:srgbClr val="2A185E"/>
          </a:solidFill>
          <a:ln w="254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3316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Operations
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3316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src/ai_copilot.py
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3243" y="1901951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72700" y="1508760"/>
            <a:ext cx="1719072" cy="1115568"/>
          </a:xfrm>
          <a:prstGeom prst="rect">
            <a:avLst/>
          </a:prstGeom>
          <a:solidFill>
            <a:srgbClr val="3A1A00"/>
          </a:solidFill>
          <a:ln w="254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8420" y="1581912"/>
            <a:ext cx="1627631" cy="647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Streamlit
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8420" y="2122322"/>
            <a:ext cx="1627631" cy="47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96C2"/>
                </a:solidFill>
              </a:rPr>
              <a:t>app.py
72-hour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" y="2788920"/>
            <a:ext cx="5669280" cy="36576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" y="28620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52CC"/>
                </a:solidFill>
              </a:rPr>
              <a:t>MATHEMATICAL DECISION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7596" y="2788920"/>
            <a:ext cx="1719071" cy="36576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7596" y="2862072"/>
            <a:ext cx="17190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A77FF"/>
                </a:solidFill>
              </a:rPr>
              <a:t>AI DECISION-SUPPORT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72700" y="2788920"/>
            <a:ext cx="1719071" cy="36576"/>
          </a:xfrm>
          <a:prstGeom prst="rect">
            <a:avLst/>
          </a:prstGeom>
          <a:solidFill>
            <a:srgbClr val="E8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72700" y="2862072"/>
            <a:ext cx="17190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B000"/>
                </a:solidFill>
              </a:rPr>
              <a:t>PRESENTATION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90672"/>
            <a:ext cx="11274552" cy="338328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2278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Key Design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685032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E2ECFF"/>
                </a:solidFill>
              </a:rPr>
              <a:t>●  The AI Operations Copilot reads structured engine outputs only — it cannot invent, modify, or override a single calculated number.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2ECFF"/>
                </a:solidFill>
              </a:rPr>
              <a:t>●  Every AI-stated fact traces directly to the optimizer or congestion engine, verified by a dedicated 100-check test suite.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2ECFF"/>
                </a:solidFill>
              </a:rPr>
              <a:t>●  The Copilot architecture is designed so a live LLM can replace the rule-based templates without touching any engine or dashboard.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E2ECFF"/>
                </a:solidFill>
              </a:rPr>
              <a:t>●  No external API, no internet connection, no cloud account required — the entire system runs locally.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How PortPulse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Component architecture — data flows and module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468880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325880"/>
            <a:ext cx="2834640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3258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ENGINES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2834640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3258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DECISION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325880"/>
            <a:ext cx="2907792" cy="34747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325880"/>
            <a:ext cx="2907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2468880" cy="68580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65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vessels.csv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579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96C2"/>
                </a:solidFill>
              </a:rPr>
              <a:t>15 simulated vessels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43200"/>
            <a:ext cx="2468880" cy="68580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berths.csv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723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96C2"/>
                </a:solidFill>
              </a:rPr>
              <a:t>5 berths, capacity &amp;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657600"/>
            <a:ext cx="2468880" cy="68580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941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schedule_output.csv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96C2"/>
                </a:solidFill>
              </a:rPr>
              <a:t>Pre-computed schedule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1828800"/>
            <a:ext cx="2834640" cy="685800"/>
          </a:xfrm>
          <a:prstGeom prst="rect">
            <a:avLst/>
          </a:prstGeom>
          <a:solidFill>
            <a:srgbClr val="0F2A58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1865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2CC"/>
                </a:solidFill>
              </a:rPr>
              <a:t>optimizer.py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157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</a:rPr>
              <a:t>OR-Tools SCIP MIP
Berth scheduling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743200"/>
            <a:ext cx="2834640" cy="685800"/>
          </a:xfrm>
          <a:prstGeom prst="rect">
            <a:avLst/>
          </a:prstGeom>
          <a:solidFill>
            <a:srgbClr val="0F2A58"/>
          </a:solidFill>
          <a:ln w="19050">
            <a:solidFill>
              <a:srgbClr val="0B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779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652"/>
                </a:solidFill>
              </a:rPr>
              <a:t>congestion.py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072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</a:rPr>
              <a:t>Analytical scoring
Bottleneck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657600"/>
            <a:ext cx="2834640" cy="685800"/>
          </a:xfrm>
          <a:prstGeom prst="rect">
            <a:avLst/>
          </a:prstGeom>
          <a:solidFill>
            <a:srgbClr val="0F2A58"/>
          </a:solidFill>
          <a:ln w="1905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6941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A9B"/>
                </a:solidFill>
              </a:rPr>
              <a:t>scenario_engine.py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986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CFF"/>
                </a:solidFill>
              </a:rPr>
              <a:t>What-if simulation
Re-runs optimizer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828800"/>
            <a:ext cx="2834640" cy="2514600"/>
          </a:xfrm>
          <a:prstGeom prst="rect">
            <a:avLst/>
          </a:prstGeom>
          <a:solidFill>
            <a:srgbClr val="0F2A58"/>
          </a:solidFill>
          <a:ln w="254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901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77FF"/>
                </a:solidFill>
              </a:rPr>
              <a:t>src/ai_copilot.py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331720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build_operational_status()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build_bottleneck_analysis()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build_recommendations()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build_scenario_insight()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generate_copilot_insights()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4462272"/>
            <a:ext cx="2834640" cy="685800"/>
          </a:xfrm>
          <a:prstGeom prst="rect">
            <a:avLst/>
          </a:prstGeom>
          <a:solidFill>
            <a:srgbClr val="07142C"/>
          </a:solidFill>
          <a:ln w="127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4988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B000"/>
                </a:solidFill>
              </a:rPr>
              <a:t>Tests (4 suites, 100+ checks)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773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6C2"/>
                </a:solidFill>
              </a:rPr>
              <a:t>Validates every AI-stated fact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1828800"/>
            <a:ext cx="2907792" cy="2514600"/>
          </a:xfrm>
          <a:prstGeom prst="rect">
            <a:avLst/>
          </a:prstGeom>
          <a:solidFill>
            <a:srgbClr val="0F2A58"/>
          </a:solidFill>
          <a:ln w="19050">
            <a:solidFill>
              <a:srgbClr val="E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9019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030"/>
                </a:solidFill>
              </a:rPr>
              <a:t>app.py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317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Streamlit Dashboard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72-hour Gantt chart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Congestion rankings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Scenario comparison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AI Copilot panel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7A96C2"/>
                </a:solidFill>
              </a:rPr>
              <a:t>KPI cards &amp; 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2377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2377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2377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21808"/>
            <a:ext cx="11548872" cy="123444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7A96C2"/>
                </a:solidFill>
              </a:rPr>
              <a:t>Data: simulated 15-vessel / 5-berth dataset (72-hour planning horizon) — no live port feed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7A96C2"/>
                </a:solidFill>
              </a:rPr>
              <a:t>No external API, no cloud services, no API keys required — entirely local Python application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7A96C2"/>
                </a:solidFill>
              </a:rPr>
              <a:t>IBM Bob used as engineering assistant during development (implementation, testing, documentation)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Scenario Analysis: What Changes When Conditions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20% service-time reduction — verified engine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4114800" cy="5166360"/>
          </a:xfrm>
          <a:prstGeom prst="rect">
            <a:avLst/>
          </a:prstGeom>
          <a:solidFill>
            <a:srgbClr val="07142C"/>
          </a:solidFill>
          <a:ln w="25400">
            <a:solidFill>
              <a:srgbClr val="88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4114800" cy="475488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666"/>
                </a:solidFill>
              </a:rPr>
              <a:t>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1965960"/>
            <a:ext cx="3895344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20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Scheduled Vessels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20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15 /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441448"/>
            <a:ext cx="3895344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4963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Total Waiting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96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39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2916936"/>
            <a:ext cx="3895344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9718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Avg Waiting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71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2.6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392424"/>
            <a:ext cx="3895344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447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Max Waiting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4472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16 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3867912"/>
            <a:ext cx="3895344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9227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Waiting Vessels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227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4343400"/>
            <a:ext cx="3895344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3982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Demurrage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3982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$132,600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" y="4818888"/>
            <a:ext cx="3895344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87375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Berth Operating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87375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$60,300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" y="5294376"/>
            <a:ext cx="3895344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349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Total Modeled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3492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2ECFF"/>
                </a:solidFill>
              </a:rPr>
              <a:t>$192,900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" y="5769864"/>
            <a:ext cx="3895344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5824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Bottleneck Berth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8247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6666"/>
                </a:solidFill>
              </a:rPr>
              <a:t>Berth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606040"/>
            <a:ext cx="2926080" cy="228600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79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4D8"/>
                </a:solidFill>
              </a:rPr>
              <a:t>20% Service-Time
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79" y="3547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B000"/>
                </a:solidFill>
              </a:rPr>
              <a:t>▼  RE-OPTIMIZE  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413308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96C2"/>
                </a:solidFill>
              </a:rPr>
              <a:t>OR-Tools SCIP
MIP re-runs on
modified inputs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371600"/>
            <a:ext cx="4005072" cy="5166360"/>
          </a:xfrm>
          <a:prstGeom prst="rect">
            <a:avLst/>
          </a:prstGeom>
          <a:solidFill>
            <a:srgbClr val="07142C"/>
          </a:solidFill>
          <a:ln w="25400">
            <a:solidFill>
              <a:srgbClr val="0B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371600"/>
            <a:ext cx="4005072" cy="475488"/>
          </a:xfrm>
          <a:prstGeom prst="rect">
            <a:avLst/>
          </a:prstGeom>
          <a:solidFill>
            <a:srgbClr val="063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371600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C26C"/>
                </a:solidFill>
              </a:rPr>
              <a:t>SCENARIO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2127" y="1965960"/>
            <a:ext cx="3785615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20208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Scheduled Vessels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0208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15 / 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7" y="2441448"/>
            <a:ext cx="3785615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2496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Total Waiting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2496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27 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2916936"/>
            <a:ext cx="3785615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2971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Avg Waiting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29718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1.8 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7" y="3392424"/>
            <a:ext cx="3785615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3447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Max Waiting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44728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10 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82127" y="3867912"/>
            <a:ext cx="3785615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73568" y="3922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Waiting Vessels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9227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82127" y="4343400"/>
            <a:ext cx="3785615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73568" y="4398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Demurrage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3982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$88,200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4818888"/>
            <a:ext cx="3785615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3568" y="48737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Berth Operating Cost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873751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$53,100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7" y="5294376"/>
            <a:ext cx="3785615" cy="438912"/>
          </a:xfrm>
          <a:prstGeom prst="rect">
            <a:avLst/>
          </a:prstGeom>
          <a:solidFill>
            <a:srgbClr val="071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73568" y="5349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Total Modeled Cost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53492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2C26C"/>
                </a:solidFill>
              </a:rPr>
              <a:t>$141,300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82127" y="5769864"/>
            <a:ext cx="3785615" cy="438912"/>
          </a:xfrm>
          <a:prstGeom prst="rect">
            <a:avLst/>
          </a:prstGeom>
          <a:solidFill>
            <a:srgbClr val="0F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73568" y="58247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6C2"/>
                </a:solidFill>
              </a:rPr>
              <a:t>Bottleneck Berth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582472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B000"/>
                </a:solidFill>
              </a:rPr>
              <a:t>Berth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6601968"/>
            <a:ext cx="11365992" cy="164592"/>
          </a:xfrm>
          <a:prstGeom prst="rect">
            <a:avLst/>
          </a:prstGeom>
          <a:solidFill>
            <a:srgbClr val="07142C"/>
          </a:solidFill>
          <a:ln w="127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611112"/>
            <a:ext cx="109728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B000"/>
                </a:solidFill>
              </a:rPr>
              <a:t>AI Copilot automatically detects and warns: bottleneck shifts from Berth 3 to Berth 2 after intervention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IBM Technology &amp;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Accurate representation of IBM involvement in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035040" cy="5029200"/>
          </a:xfrm>
          <a:prstGeom prst="rect">
            <a:avLst/>
          </a:prstGeom>
          <a:solidFill>
            <a:srgbClr val="0C22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035040" cy="512064"/>
          </a:xfrm>
          <a:prstGeom prst="rect">
            <a:avLst/>
          </a:prstGeom>
          <a:solidFill>
            <a:srgbClr val="0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IBM Bob (BoB AI Assistant)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9339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CFF"/>
                </a:solidFill>
              </a:rPr>
              <a:t>Role in this project: Engineering Assistance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395728"/>
            <a:ext cx="5623560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1460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E2ECFF"/>
                </a:solidFill>
              </a:rPr>
              <a:t>●  Used as an AI coding and engineering assistant throughout development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E2ECFF"/>
                </a:solidFill>
              </a:rPr>
              <a:t>●  Assisted with: Python implementation, OR-Tools MIP formulation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E2ECFF"/>
                </a:solidFill>
              </a:rPr>
              <a:t>●  Assisted with: deterministic AI Copilot logic and test suite design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E2ECFF"/>
                </a:solidFill>
              </a:rPr>
              <a:t>●  Assisted with: documentation, architecture decisions, code review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E2ECFF"/>
                </a:solidFill>
              </a:rPr>
              <a:t>●  Not part of the runtime application — no IBM API called at run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371600"/>
            <a:ext cx="4937760" cy="502920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481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Runtime Technology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920240"/>
            <a:ext cx="4572000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2029968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Python 3.10+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9397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All application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688336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75234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Dashboard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346704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3924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2CC"/>
                </a:solidFill>
              </a:rPr>
              <a:t>OR-Tools (SCIP MIP)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1071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Berth scheduling optimizer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4005072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050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96C2"/>
                </a:solidFill>
              </a:rPr>
              <a:t>pandas / 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0690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Data processing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4663440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96C2"/>
                </a:solidFill>
              </a:rPr>
              <a:t>Plotly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72744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Interactive visualisations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5321808"/>
            <a:ext cx="4572000" cy="59436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367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96C2"/>
                </a:solidFill>
              </a:rPr>
              <a:t>CSV data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38581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6C2"/>
                </a:solidFill>
              </a:rPr>
              <a:t>Simulated port dataset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solidFill>
            <a:srgbClr val="07142C"/>
          </a:solidFill>
          <a:ln w="127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96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B000"/>
                </a:solidFill>
              </a:rPr>
              <a:t>No watsonx.ai, IBM Cloud, Watson Studio, Granite, or IBM Cloud Pak services are used in this project — this is stated honestly.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Modeled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20% service-time reduction scenario vs. baseline — verified engine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5" y="1417320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5" y="152704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2C26C"/>
                </a:solidFill>
              </a:rPr>
              <a:t>39h → 27h</a:t>
            </a:r>
          </a:p>
        </p:txBody>
      </p:sp>
      <p:sp>
        <p:nvSpPr>
          <p:cNvPr id="8" name="Rectangle 7"/>
          <p:cNvSpPr/>
          <p:nvPr/>
        </p:nvSpPr>
        <p:spPr>
          <a:xfrm>
            <a:off x="1549907" y="229514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7" y="229514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-12h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2743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Total Waiting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17320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52704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2C26C"/>
                </a:solidFill>
              </a:rPr>
              <a:t>$192.9k → $141.3k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0388" y="229514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0388" y="229514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-$51.6k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743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Total Modeled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417320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52704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B000"/>
                </a:solidFill>
              </a:rPr>
              <a:t>Berth 3 → Berth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0867" y="229514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0867" y="229514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B000"/>
                </a:solidFill>
              </a:rPr>
              <a:t>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743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Bottleneck Shift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" y="3520439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" y="3630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15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49907" y="439826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49907" y="439826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0 infeasible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" y="48463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Vessels Scheduled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3520439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630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2C26C"/>
                </a:solidFill>
              </a:rPr>
              <a:t>$132.6k → $88.2k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0388" y="439826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0388" y="439826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-$44.4k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8463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Demurrage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74736" y="3520439"/>
            <a:ext cx="3520440" cy="1828800"/>
          </a:xfrm>
          <a:prstGeom prst="rect">
            <a:avLst/>
          </a:prstGeom>
          <a:solidFill>
            <a:srgbClr val="0C22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5" y="3630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2C26C"/>
                </a:solidFill>
              </a:rPr>
              <a:t>$60.3k → $53.1k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0867" y="4398264"/>
            <a:ext cx="1408176" cy="347472"/>
          </a:xfrm>
          <a:prstGeom prst="rect">
            <a:avLst/>
          </a:prstGeom>
          <a:solidFill>
            <a:srgbClr val="0714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0867" y="4398264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-$7.2k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48463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96C2"/>
                </a:solidFill>
              </a:rPr>
              <a:t>Berth Operating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solidFill>
            <a:srgbClr val="07142C"/>
          </a:solidFill>
          <a:ln w="12700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501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B000"/>
                </a:solidFill>
              </a:rPr>
              <a:t>Results are from our simulated/test dataset and represent modeled scenario outcomes, not real-world port performance. No savings are guaranteed.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Team Portvector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IBM BoB AI Innovation Hackathon 2026 — AI Track — IT, DEPSTAR, Charusat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908" y="1417320"/>
            <a:ext cx="2651760" cy="4389120"/>
          </a:xfrm>
          <a:prstGeom prst="rect">
            <a:avLst/>
          </a:prstGeom>
          <a:solidFill>
            <a:srgbClr val="0C22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29868" y="1618488"/>
            <a:ext cx="1005840" cy="1005840"/>
          </a:xfrm>
          <a:prstGeom prst="rect">
            <a:avLst/>
          </a:prstGeom>
          <a:solidFill>
            <a:srgbClr val="0052C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9868" y="1618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" y="27706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Mit Mahant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" y="3337560"/>
            <a:ext cx="2194560" cy="3840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</a:rPr>
              <a:t>Team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" y="3867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CFF"/>
                </a:solidFill>
              </a:rPr>
              <a:t>26DIT022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" y="4297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6C2"/>
                </a:solidFill>
              </a:rPr>
              <a:t>26dit022@charusat.edu.in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4700" y="1417320"/>
            <a:ext cx="2651760" cy="438912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7660" y="1618488"/>
            <a:ext cx="1005840" cy="100584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7660" y="1618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6140" y="27706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Brijraj Solanki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3300" y="3337560"/>
            <a:ext cx="2194560" cy="384048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3300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ECFF"/>
                </a:solidFill>
              </a:rPr>
              <a:t>Project Contributor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6140" y="3867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CFF"/>
                </a:solidFill>
              </a:rPr>
              <a:t>26DIT056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4297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6C2"/>
                </a:solidFill>
              </a:rPr>
              <a:t>26dit056@charusat.edu.in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492" y="1417320"/>
            <a:ext cx="2651760" cy="438912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5451" y="1618488"/>
            <a:ext cx="1005840" cy="100584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5451" y="1618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3931" y="27706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Pival Patel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1092" y="3337560"/>
            <a:ext cx="2194560" cy="384048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ECFF"/>
                </a:solidFill>
              </a:rPr>
              <a:t>Project Contributor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3931" y="3867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CFF"/>
                </a:solidFill>
              </a:rPr>
              <a:t>26DIT045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4297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6C2"/>
                </a:solidFill>
              </a:rPr>
              <a:t>26dit045@charusat.edu.in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30284" y="1417320"/>
            <a:ext cx="2651760" cy="438912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53243" y="1618488"/>
            <a:ext cx="1005840" cy="1005840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3" y="1618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1724" y="277063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Arpan Ghaskata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58884" y="3337560"/>
            <a:ext cx="2194560" cy="384048"/>
          </a:xfrm>
          <a:prstGeom prst="rect">
            <a:avLst/>
          </a:prstGeom>
          <a:solidFill>
            <a:srgbClr val="0F2A58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8884" y="3337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2ECFF"/>
                </a:solidFill>
              </a:rPr>
              <a:t>Project Contributor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1724" y="3867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CFF"/>
                </a:solidFill>
              </a:rPr>
              <a:t>26DIT011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6004" y="4297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6C2"/>
                </a:solidFill>
              </a:rPr>
              <a:t>26dit011@charusat.edu.in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7142C"/>
          </a:solidFill>
          <a:ln w="12700">
            <a:solidFill>
              <a:srgbClr val="00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6C2"/>
                </a:solidFill>
              </a:rPr>
              <a:t>Problem Statement L1 — Container Congestion Predictor &amp; Port Operations Optimiser  |  Repository: bob-ai-hackathon-PortVector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